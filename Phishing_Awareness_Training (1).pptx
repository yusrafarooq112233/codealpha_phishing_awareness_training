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 Rate</c:v>
                </c:pt>
              </c:strCache>
            </c:strRef>
          </c:tx>
          <c:spPr>
            <a:solidFill>
              <a:srgbClr val="2DD4E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EAF1F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Fear-based</c:v>
                </c:pt>
                <c:pt idx="1">
                  <c:v>Job-function</c:v>
                </c:pt>
                <c:pt idx="2">
                  <c:v>Reward-based</c:v>
                </c:pt>
                <c:pt idx="3">
                  <c:v>Social-based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10.4</c:v>
                </c:pt>
                <c:pt idx="1">
                  <c:v>11.8</c:v>
                </c:pt>
                <c:pt idx="2">
                  <c:v>13.8</c:v>
                </c:pt>
                <c:pt idx="3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CD-481F-9E15-8733D0BEE4E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1F2A3D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8A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F2A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1F2A3D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8A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C2B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41C2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1602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verify.com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4.png"/><Relationship Id="rId7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4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7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457200" cy="0"/>
          </a:xfrm>
          <a:prstGeom prst="line">
            <a:avLst/>
          </a:prstGeom>
          <a:noFill/>
          <a:ln w="19050">
            <a:solidFill>
              <a:srgbClr val="1FA97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502920"/>
            <a:ext cx="0" cy="457200"/>
          </a:xfrm>
          <a:prstGeom prst="line">
            <a:avLst/>
          </a:prstGeom>
          <a:noFill/>
          <a:ln w="19050">
            <a:solidFill>
              <a:srgbClr val="1FA97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31575" y="502920"/>
            <a:ext cx="457200" cy="0"/>
          </a:xfrm>
          <a:prstGeom prst="line">
            <a:avLst/>
          </a:prstGeom>
          <a:noFill/>
          <a:ln w="19050">
            <a:solidFill>
              <a:srgbClr val="1FA97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88775" y="502920"/>
            <a:ext cx="0" cy="457200"/>
          </a:xfrm>
          <a:prstGeom prst="line">
            <a:avLst/>
          </a:prstGeom>
          <a:noFill/>
          <a:ln w="19050">
            <a:solidFill>
              <a:srgbClr val="1FA97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5897880"/>
            <a:ext cx="0" cy="457200"/>
          </a:xfrm>
          <a:prstGeom prst="line">
            <a:avLst/>
          </a:prstGeom>
          <a:noFill/>
          <a:ln w="19050">
            <a:solidFill>
              <a:srgbClr val="1FA97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355080"/>
            <a:ext cx="457200" cy="0"/>
          </a:xfrm>
          <a:prstGeom prst="line">
            <a:avLst/>
          </a:prstGeom>
          <a:noFill/>
          <a:ln w="19050">
            <a:solidFill>
              <a:srgbClr val="1FA9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88775" y="5897880"/>
            <a:ext cx="0" cy="457200"/>
          </a:xfrm>
          <a:prstGeom prst="line">
            <a:avLst/>
          </a:prstGeom>
          <a:noFill/>
          <a:ln w="19050">
            <a:solidFill>
              <a:srgbClr val="1FA97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31575" y="6355080"/>
            <a:ext cx="457200" cy="0"/>
          </a:xfrm>
          <a:prstGeom prst="line">
            <a:avLst/>
          </a:prstGeom>
          <a:noFill/>
          <a:ln w="19050">
            <a:solidFill>
              <a:srgbClr val="1FA9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9E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AWARENESS PROGRAM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1600200"/>
            <a:ext cx="9875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EA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Protecting Yourself
</a:t>
            </a:r>
            <a:endParaRPr lang="en-US" sz="5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EA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</a:t>
            </a:r>
            <a:r>
              <a:rPr lang="en-US" sz="5000" b="1" dirty="0">
                <a:solidFill>
                  <a:srgbClr val="39E9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</a:t>
            </a:r>
            <a:r>
              <a:rPr lang="en-US" sz="5000" b="1" dirty="0">
                <a:solidFill>
                  <a:srgbClr val="EA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Attacks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822960" y="3977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deception, resisting manipulation, and keeping your data out of the wrong hands.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892040"/>
            <a:ext cx="3429000" cy="1234440"/>
          </a:xfrm>
          <a:prstGeom prst="rect">
            <a:avLst/>
          </a:prstGeom>
          <a:solidFill>
            <a:srgbClr val="141C2B"/>
          </a:solidFill>
          <a:ln w="12700">
            <a:solidFill>
              <a:srgbClr val="1F2A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9834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E9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193,407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005840" y="55321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complaints — FBI IC3, 2024 (#1 reported cybercrime)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480560" y="4892040"/>
            <a:ext cx="3429000" cy="1234440"/>
          </a:xfrm>
          <a:prstGeom prst="rect">
            <a:avLst/>
          </a:prstGeom>
          <a:solidFill>
            <a:srgbClr val="141C2B"/>
          </a:solidFill>
          <a:ln w="12700">
            <a:solidFill>
              <a:srgbClr val="1F2A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49834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E9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663440" y="55321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public-sector breaches involved phishing — Verizon DBIR 2025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138160" y="4892040"/>
            <a:ext cx="3429000" cy="1234440"/>
          </a:xfrm>
          <a:prstGeom prst="rect">
            <a:avLst/>
          </a:prstGeom>
          <a:solidFill>
            <a:srgbClr val="141C2B"/>
          </a:solidFill>
          <a:ln w="12700">
            <a:solidFill>
              <a:srgbClr val="1F2A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49834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9E9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321040" y="55321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enterprise network breaches trace to spear phishing — SANS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0195560" y="914400"/>
            <a:ext cx="1234440" cy="1234440"/>
          </a:xfrm>
          <a:prstGeom prst="ellipse">
            <a:avLst/>
          </a:prstGeom>
          <a:solidFill>
            <a:srgbClr val="141C2B"/>
          </a:solidFill>
          <a:ln/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3309" y="1192149"/>
            <a:ext cx="678942" cy="67894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39E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ROADMAP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987552"/>
          </a:xfrm>
          <a:prstGeom prst="rect">
            <a:avLst/>
          </a:prstGeom>
          <a:solidFill>
            <a:srgbClr val="141C2B"/>
          </a:solidFill>
          <a:ln w="12700">
            <a:solidFill>
              <a:srgbClr val="1F2A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865376"/>
            <a:ext cx="640080" cy="640080"/>
          </a:xfrm>
          <a:prstGeom prst="ellipse">
            <a:avLst/>
          </a:prstGeom>
          <a:solidFill>
            <a:srgbClr val="0F152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2009394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0136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Phishing?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08760" y="216712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Definitions, scale of the threat, and why it works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2862072"/>
            <a:ext cx="5394960" cy="987552"/>
          </a:xfrm>
          <a:prstGeom prst="rect">
            <a:avLst/>
          </a:prstGeom>
          <a:solidFill>
            <a:srgbClr val="141C2B"/>
          </a:solidFill>
          <a:ln w="12700">
            <a:solidFill>
              <a:srgbClr val="1F2A3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3232" y="3035808"/>
            <a:ext cx="640080" cy="640080"/>
          </a:xfrm>
          <a:prstGeom prst="ellipse">
            <a:avLst/>
          </a:prstGeom>
          <a:solidFill>
            <a:srgbClr val="0F152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3179826"/>
            <a:ext cx="352044" cy="3520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9718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Attacks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508760" y="33375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spear phishing, whaling, smishing, vishing &amp; clone phishing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4032504"/>
            <a:ext cx="5394960" cy="987552"/>
          </a:xfrm>
          <a:prstGeom prst="rect">
            <a:avLst/>
          </a:prstGeom>
          <a:solidFill>
            <a:srgbClr val="141C2B"/>
          </a:solidFill>
          <a:ln w="12700">
            <a:solidFill>
              <a:srgbClr val="1F2A3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13232" y="4206240"/>
            <a:ext cx="640080" cy="640080"/>
          </a:xfrm>
          <a:prstGeom prst="ellipse">
            <a:avLst/>
          </a:prstGeom>
          <a:solidFill>
            <a:srgbClr val="0F1522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4350258"/>
            <a:ext cx="352044" cy="3520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14223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Spotting the Signs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508760" y="450799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 in emails and fraudulent websites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5202936"/>
            <a:ext cx="5394960" cy="987552"/>
          </a:xfrm>
          <a:prstGeom prst="rect">
            <a:avLst/>
          </a:prstGeom>
          <a:solidFill>
            <a:srgbClr val="141C2B"/>
          </a:solidFill>
          <a:ln w="12700">
            <a:solidFill>
              <a:srgbClr val="1F2A3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13232" y="5376672"/>
            <a:ext cx="640080" cy="640080"/>
          </a:xfrm>
          <a:prstGeom prst="ellipse">
            <a:avLst/>
          </a:prstGeom>
          <a:solidFill>
            <a:srgbClr val="0F1522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5520690"/>
            <a:ext cx="352044" cy="3520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531266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508760" y="567842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psychological levers attackers pull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400800" y="1691640"/>
            <a:ext cx="5394960" cy="987552"/>
          </a:xfrm>
          <a:prstGeom prst="rect">
            <a:avLst/>
          </a:prstGeom>
          <a:solidFill>
            <a:srgbClr val="141C2B"/>
          </a:solidFill>
          <a:ln w="12700">
            <a:solidFill>
              <a:srgbClr val="1F2A3D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565392" y="1865376"/>
            <a:ext cx="640080" cy="640080"/>
          </a:xfrm>
          <a:prstGeom prst="ellipse">
            <a:avLst/>
          </a:prstGeom>
          <a:solidFill>
            <a:srgbClr val="0F1522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9410" y="2009394"/>
            <a:ext cx="352044" cy="3520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360920" y="180136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7360920" y="216712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incident and what it teaches us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400800" y="2862072"/>
            <a:ext cx="5394960" cy="987552"/>
          </a:xfrm>
          <a:prstGeom prst="rect">
            <a:avLst/>
          </a:prstGeom>
          <a:solidFill>
            <a:srgbClr val="141C2B"/>
          </a:solidFill>
          <a:ln w="12700">
            <a:solidFill>
              <a:srgbClr val="1F2A3D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565392" y="3035808"/>
            <a:ext cx="640080" cy="640080"/>
          </a:xfrm>
          <a:prstGeom prst="ellipse">
            <a:avLst/>
          </a:prstGeom>
          <a:solidFill>
            <a:srgbClr val="0F1522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09410" y="3179826"/>
            <a:ext cx="352044" cy="3520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360920" y="29718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7360920" y="33375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habits that stop attacks cold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400800" y="4032504"/>
            <a:ext cx="5394960" cy="987552"/>
          </a:xfrm>
          <a:prstGeom prst="rect">
            <a:avLst/>
          </a:prstGeom>
          <a:solidFill>
            <a:srgbClr val="141C2B"/>
          </a:solidFill>
          <a:ln w="12700">
            <a:solidFill>
              <a:srgbClr val="1F2A3D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6565392" y="4206240"/>
            <a:ext cx="640080" cy="640080"/>
          </a:xfrm>
          <a:prstGeom prst="ellipse">
            <a:avLst/>
          </a:prstGeom>
          <a:solidFill>
            <a:srgbClr val="0F1522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09410" y="4350258"/>
            <a:ext cx="352044" cy="35204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360920" y="414223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500" dirty="0"/>
          </a:p>
        </p:txBody>
      </p:sp>
      <p:sp>
        <p:nvSpPr>
          <p:cNvPr id="38" name="Text 29"/>
          <p:cNvSpPr/>
          <p:nvPr/>
        </p:nvSpPr>
        <p:spPr>
          <a:xfrm>
            <a:off x="7360920" y="450799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quiz to test what you've learned</a:t>
            </a:r>
            <a:endParaRPr lang="en-US" sz="1050" dirty="0"/>
          </a:p>
        </p:txBody>
      </p:sp>
      <p:sp>
        <p:nvSpPr>
          <p:cNvPr id="39" name="Text 30"/>
          <p:cNvSpPr/>
          <p:nvPr/>
        </p:nvSpPr>
        <p:spPr>
          <a:xfrm>
            <a:off x="1143000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39E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Phishing?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309360" cy="4160520"/>
          </a:xfrm>
          <a:prstGeom prst="rect">
            <a:avLst/>
          </a:prstGeom>
          <a:solidFill>
            <a:srgbClr val="141C2B"/>
          </a:solidFill>
          <a:ln w="12700">
            <a:solidFill>
              <a:srgbClr val="1F2A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5760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39E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</a:t>
            </a:r>
            <a:r>
              <a:rPr lang="en-US" sz="1450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form of social engineering in which an attacker impersonates a trusted person or organization to trick someone into handing over sensitive information — passwords, financial details, or system access.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5760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through email, text messages, phone calls, or fake websites.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Relies on urgency, fear, or trust rather than technical hacking skill.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click can expose an entire organization's network.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companies millions annually and puts employee safety at risk.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086600" y="1600200"/>
            <a:ext cx="4526280" cy="1234440"/>
          </a:xfrm>
          <a:prstGeom prst="rect">
            <a:avLst/>
          </a:prstGeom>
          <a:solidFill>
            <a:srgbClr val="141C2B"/>
          </a:solidFill>
          <a:ln w="12700">
            <a:solidFill>
              <a:srgbClr val="1F2A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69480" y="170992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D4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269480" y="235000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reported cybercrime type, FBI IC3 2024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086600" y="3017520"/>
            <a:ext cx="4526280" cy="1234440"/>
          </a:xfrm>
          <a:prstGeom prst="rect">
            <a:avLst/>
          </a:prstGeom>
          <a:solidFill>
            <a:srgbClr val="141C2B"/>
          </a:solidFill>
          <a:ln w="12700">
            <a:solidFill>
              <a:srgbClr val="1F2A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69480" y="312724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D4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193K+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269480" y="376732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complaints filed in a single year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86600" y="4434840"/>
            <a:ext cx="4526280" cy="1234440"/>
          </a:xfrm>
          <a:prstGeom prst="rect">
            <a:avLst/>
          </a:prstGeom>
          <a:solidFill>
            <a:srgbClr val="141C2B"/>
          </a:solidFill>
          <a:ln w="12700">
            <a:solidFill>
              <a:srgbClr val="1F2A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69480" y="454456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D4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269480" y="518464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public-sector breaches involved phishing (Verizon DBIR 2025)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43000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Phishing Attack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54584" y="1965960"/>
            <a:ext cx="2084832" cy="3108960"/>
          </a:xfrm>
          <a:prstGeom prst="rect">
            <a:avLst/>
          </a:prstGeom>
          <a:solidFill>
            <a:srgbClr val="141C2B"/>
          </a:solidFill>
          <a:ln w="12700">
            <a:solidFill>
              <a:srgbClr val="1F2A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67816" y="2194560"/>
            <a:ext cx="658368" cy="658368"/>
          </a:xfrm>
          <a:prstGeom prst="ellipse">
            <a:avLst/>
          </a:prstGeom>
          <a:solidFill>
            <a:srgbClr val="0F152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2408" y="235915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4312" y="3017520"/>
            <a:ext cx="1865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The Bait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91744" y="3474720"/>
            <a:ext cx="181051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crafts an email or message impersonating a trusted brand, vendor, or colleague.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621128" y="3246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9E9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〉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2804008" y="1965960"/>
            <a:ext cx="2084832" cy="3108960"/>
          </a:xfrm>
          <a:prstGeom prst="rect">
            <a:avLst/>
          </a:prstGeom>
          <a:solidFill>
            <a:srgbClr val="141C2B"/>
          </a:solidFill>
          <a:ln w="12700">
            <a:solidFill>
              <a:srgbClr val="1F2A3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17240" y="2194560"/>
            <a:ext cx="658368" cy="658368"/>
          </a:xfrm>
          <a:prstGeom prst="ellipse">
            <a:avLst/>
          </a:prstGeom>
          <a:solidFill>
            <a:srgbClr val="0F1522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1832" y="2359152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13736" y="3017520"/>
            <a:ext cx="1865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The Hook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941168" y="3474720"/>
            <a:ext cx="181051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receives the message and is prompted to click a link or open an attachment.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870552" y="3246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9E9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〉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5053432" y="1965960"/>
            <a:ext cx="2084832" cy="3108960"/>
          </a:xfrm>
          <a:prstGeom prst="rect">
            <a:avLst/>
          </a:prstGeom>
          <a:solidFill>
            <a:srgbClr val="141C2B"/>
          </a:solidFill>
          <a:ln w="12700">
            <a:solidFill>
              <a:srgbClr val="1F2A3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766664" y="2194560"/>
            <a:ext cx="658368" cy="658368"/>
          </a:xfrm>
          <a:prstGeom prst="ellipse">
            <a:avLst/>
          </a:prstGeom>
          <a:solidFill>
            <a:srgbClr val="0F1522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1256" y="2359152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63160" y="3017520"/>
            <a:ext cx="1865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The Trap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190592" y="3474720"/>
            <a:ext cx="181051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leads to a fraudulent website that mimics a real login page or service.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7119976" y="3246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9E9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〉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7302856" y="1965960"/>
            <a:ext cx="2084832" cy="3108960"/>
          </a:xfrm>
          <a:prstGeom prst="rect">
            <a:avLst/>
          </a:prstGeom>
          <a:solidFill>
            <a:srgbClr val="141C2B"/>
          </a:solidFill>
          <a:ln w="12700">
            <a:solidFill>
              <a:srgbClr val="1F2A3D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016088" y="2194560"/>
            <a:ext cx="658368" cy="658368"/>
          </a:xfrm>
          <a:prstGeom prst="ellipse">
            <a:avLst/>
          </a:prstGeom>
          <a:solidFill>
            <a:srgbClr val="0F1522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0680" y="2359152"/>
            <a:ext cx="329184" cy="32918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12584" y="3017520"/>
            <a:ext cx="1865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The Catch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440016" y="3474720"/>
            <a:ext cx="181051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enters credentials or payment details, handing them directly to the attacker.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9369400" y="3246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9E9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〉</a:t>
            </a:r>
            <a:endParaRPr lang="en-US" sz="2000" dirty="0"/>
          </a:p>
        </p:txBody>
      </p:sp>
      <p:sp>
        <p:nvSpPr>
          <p:cNvPr id="28" name="Shape 22"/>
          <p:cNvSpPr/>
          <p:nvPr/>
        </p:nvSpPr>
        <p:spPr>
          <a:xfrm>
            <a:off x="9552280" y="1965960"/>
            <a:ext cx="2084832" cy="3108960"/>
          </a:xfrm>
          <a:prstGeom prst="rect">
            <a:avLst/>
          </a:prstGeom>
          <a:solidFill>
            <a:srgbClr val="141C2B"/>
          </a:solidFill>
          <a:ln w="12700">
            <a:solidFill>
              <a:srgbClr val="1F2A3D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10265512" y="2194560"/>
            <a:ext cx="658368" cy="658368"/>
          </a:xfrm>
          <a:prstGeom prst="ellipse">
            <a:avLst/>
          </a:prstGeom>
          <a:solidFill>
            <a:srgbClr val="0F1522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30104" y="2359152"/>
            <a:ext cx="329184" cy="32918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662008" y="3017520"/>
            <a:ext cx="1865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The Damage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9689440" y="3474720"/>
            <a:ext cx="181051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uses stolen data to access accounts, steal funds, or deploy malware.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the chain at any single step stops the entire attack — that's why recognition matters.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1143000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39E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ENEMY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A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Phishing Attacks — Part 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4160520"/>
          </a:xfrm>
          <a:prstGeom prst="rect">
            <a:avLst/>
          </a:prstGeom>
          <a:solidFill>
            <a:srgbClr val="141C2B"/>
          </a:solidFill>
          <a:ln w="12700">
            <a:solidFill>
              <a:srgbClr val="1F2A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685800" cy="685800"/>
          </a:xfrm>
          <a:prstGeom prst="ellipse">
            <a:avLst/>
          </a:prstGeom>
          <a:solidFill>
            <a:srgbClr val="0F152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545" y="2074545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7432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Phishing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77240" y="3227832"/>
            <a:ext cx="31546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classic, wide-net approach. Deceptive emails mimic a trusted brand to extract logins or payment details.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77240" y="4892040"/>
            <a:ext cx="3154680" cy="777240"/>
          </a:xfrm>
          <a:prstGeom prst="rect">
            <a:avLst/>
          </a:prstGeom>
          <a:solidFill>
            <a:srgbClr val="0F1522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4965192"/>
            <a:ext cx="28803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39E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</a:t>
            </a:r>
            <a:r>
              <a:rPr lang="en-US" sz="100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security alerts, account-verification requests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389120" y="1691640"/>
            <a:ext cx="3611880" cy="4160520"/>
          </a:xfrm>
          <a:prstGeom prst="rect">
            <a:avLst/>
          </a:prstGeom>
          <a:solidFill>
            <a:srgbClr val="141C2B"/>
          </a:solidFill>
          <a:ln w="12700">
            <a:solidFill>
              <a:srgbClr val="1F2A3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17720" y="1920240"/>
            <a:ext cx="685800" cy="685800"/>
          </a:xfrm>
          <a:prstGeom prst="ellipse">
            <a:avLst/>
          </a:prstGeom>
          <a:solidFill>
            <a:srgbClr val="0F1522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2025" y="2074545"/>
            <a:ext cx="377190" cy="37719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17720" y="27432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4617720" y="3227832"/>
            <a:ext cx="31546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at a specific person or team using personal or company details to appear credible.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617720" y="4892040"/>
            <a:ext cx="3154680" cy="777240"/>
          </a:xfrm>
          <a:prstGeom prst="rect">
            <a:avLst/>
          </a:prstGeom>
          <a:solidFill>
            <a:srgbClr val="0F1522"/>
          </a:solidFill>
          <a:ln/>
        </p:spPr>
      </p:sp>
      <p:sp>
        <p:nvSpPr>
          <p:cNvPr id="17" name="Text 13"/>
          <p:cNvSpPr/>
          <p:nvPr/>
        </p:nvSpPr>
        <p:spPr>
          <a:xfrm>
            <a:off x="4754880" y="4965192"/>
            <a:ext cx="28803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39E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</a:t>
            </a:r>
            <a:r>
              <a:rPr lang="en-US" sz="100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far the most successful technique online — SANS puts it behind 95% of enterprise network breaches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8229600" y="1691640"/>
            <a:ext cx="3611880" cy="4160520"/>
          </a:xfrm>
          <a:prstGeom prst="rect">
            <a:avLst/>
          </a:prstGeom>
          <a:solidFill>
            <a:srgbClr val="141C2B"/>
          </a:solidFill>
          <a:ln w="12700">
            <a:solidFill>
              <a:srgbClr val="1F2A3D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458200" y="1920240"/>
            <a:ext cx="685800" cy="685800"/>
          </a:xfrm>
          <a:prstGeom prst="ellipse">
            <a:avLst/>
          </a:prstGeom>
          <a:solidFill>
            <a:srgbClr val="0F1522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2505" y="2074545"/>
            <a:ext cx="377190" cy="37719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58200" y="27432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Whaling</a:t>
            </a:r>
            <a:endParaRPr lang="en-US" sz="1650" dirty="0"/>
          </a:p>
        </p:txBody>
      </p:sp>
      <p:sp>
        <p:nvSpPr>
          <p:cNvPr id="22" name="Text 17"/>
          <p:cNvSpPr/>
          <p:nvPr/>
        </p:nvSpPr>
        <p:spPr>
          <a:xfrm>
            <a:off x="8458200" y="3227832"/>
            <a:ext cx="31546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spear-phishing attack aimed squarely at executives or other high-value targets.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8458200" y="4892040"/>
            <a:ext cx="3154680" cy="777240"/>
          </a:xfrm>
          <a:prstGeom prst="rect">
            <a:avLst/>
          </a:prstGeom>
          <a:solidFill>
            <a:srgbClr val="0F1522"/>
          </a:solidFill>
          <a:ln/>
        </p:spPr>
      </p:sp>
      <p:sp>
        <p:nvSpPr>
          <p:cNvPr id="24" name="Text 19"/>
          <p:cNvSpPr/>
          <p:nvPr/>
        </p:nvSpPr>
        <p:spPr>
          <a:xfrm>
            <a:off x="8595360" y="4965192"/>
            <a:ext cx="28803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39E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</a:t>
            </a:r>
            <a:r>
              <a:rPr lang="en-US" sz="100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board requests, urgent wire-transfer approvals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43000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39E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ENEMY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A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Phishing Attacks — Part 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97480" cy="3246120"/>
          </a:xfrm>
          <a:prstGeom prst="rect">
            <a:avLst/>
          </a:prstGeom>
          <a:solidFill>
            <a:srgbClr val="141C2B"/>
          </a:solidFill>
          <a:ln w="12700">
            <a:solidFill>
              <a:srgbClr val="1F2A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0" y="2011680"/>
            <a:ext cx="685800" cy="685800"/>
          </a:xfrm>
          <a:prstGeom prst="ellipse">
            <a:avLst/>
          </a:prstGeom>
          <a:solidFill>
            <a:srgbClr val="0F152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8785" y="2165985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8803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Smishing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3364992"/>
            <a:ext cx="23317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delivered via SMS text message, often with a shortened link and false urgency.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29000" y="1737360"/>
            <a:ext cx="2697480" cy="3246120"/>
          </a:xfrm>
          <a:prstGeom prst="rect">
            <a:avLst/>
          </a:prstGeom>
          <a:solidFill>
            <a:srgbClr val="141C2B"/>
          </a:solidFill>
          <a:ln w="12700">
            <a:solidFill>
              <a:srgbClr val="1F2A3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34840" y="2011680"/>
            <a:ext cx="685800" cy="685800"/>
          </a:xfrm>
          <a:prstGeom prst="ellipse">
            <a:avLst/>
          </a:prstGeom>
          <a:solidFill>
            <a:srgbClr val="0F152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9145" y="2165985"/>
            <a:ext cx="377190" cy="3771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28803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Vishing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611880" y="3364992"/>
            <a:ext cx="23317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phishing over phone calls or voicemail, sometimes using spoofed caller ID to fake legitimacy.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309360" y="1737360"/>
            <a:ext cx="2697480" cy="3246120"/>
          </a:xfrm>
          <a:prstGeom prst="rect">
            <a:avLst/>
          </a:prstGeom>
          <a:solidFill>
            <a:srgbClr val="141C2B"/>
          </a:solidFill>
          <a:ln w="12700">
            <a:solidFill>
              <a:srgbClr val="1F2A3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0" y="2011680"/>
            <a:ext cx="685800" cy="685800"/>
          </a:xfrm>
          <a:prstGeom prst="ellipse">
            <a:avLst/>
          </a:prstGeom>
          <a:solidFill>
            <a:srgbClr val="0F1522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9505" y="2165985"/>
            <a:ext cx="377190" cy="3771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46520" y="28803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Phishing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492240" y="3364992"/>
            <a:ext cx="23317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legitimate, previously-delivered email is duplicated, with its link or attachment swapped for a malicious version.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189720" y="1737360"/>
            <a:ext cx="2697480" cy="3246120"/>
          </a:xfrm>
          <a:prstGeom prst="rect">
            <a:avLst/>
          </a:prstGeom>
          <a:solidFill>
            <a:srgbClr val="141C2B"/>
          </a:solidFill>
          <a:ln w="12700">
            <a:solidFill>
              <a:srgbClr val="1F2A3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0195560" y="2011680"/>
            <a:ext cx="685800" cy="685800"/>
          </a:xfrm>
          <a:prstGeom prst="ellipse">
            <a:avLst/>
          </a:prstGeom>
          <a:solidFill>
            <a:srgbClr val="0F1522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49865" y="2165985"/>
            <a:ext cx="377190" cy="3771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26880" y="28803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Phishing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372600" y="3364992"/>
            <a:ext cx="23317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websites imitate legitimate login pages to harvest usernames, passwords, and card numbers.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5166360"/>
            <a:ext cx="11091672" cy="868680"/>
          </a:xfrm>
          <a:prstGeom prst="rect">
            <a:avLst/>
          </a:prstGeom>
          <a:solidFill>
            <a:srgbClr val="141C2B"/>
          </a:solidFill>
          <a:ln w="12700">
            <a:solidFill>
              <a:srgbClr val="1F2A3D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49808" y="5340096"/>
            <a:ext cx="530352" cy="530352"/>
          </a:xfrm>
          <a:prstGeom prst="ellipse">
            <a:avLst/>
          </a:prstGeom>
          <a:solidFill>
            <a:srgbClr val="0F1522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9137" y="5459425"/>
            <a:ext cx="291694" cy="29169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5230368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often piggyback on current events — natural disasters, health scares, or tax season — to make bait messages feel timely and urgent.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1143000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A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Flags: Recognizing Phishing Emails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1508760"/>
          </a:xfrm>
          <a:prstGeom prst="rect">
            <a:avLst/>
          </a:prstGeom>
          <a:solidFill>
            <a:srgbClr val="141C2B"/>
          </a:solidFill>
          <a:ln w="12700">
            <a:solidFill>
              <a:srgbClr val="1F2A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856232"/>
            <a:ext cx="502920" cy="502920"/>
          </a:xfrm>
          <a:prstGeom prst="ellipse">
            <a:avLst/>
          </a:prstGeom>
          <a:solidFill>
            <a:srgbClr val="0F152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389" y="1969389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819656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&amp; Fear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13232" y="2350008"/>
            <a:ext cx="32369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"Act now or your account will be suspended." Urgent, threatening language is designed to short-circuit careful thinking.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4297680" y="1691640"/>
            <a:ext cx="3566160" cy="1508760"/>
          </a:xfrm>
          <a:prstGeom prst="rect">
            <a:avLst/>
          </a:prstGeom>
          <a:solidFill>
            <a:srgbClr val="141C2B"/>
          </a:solidFill>
          <a:ln w="12700">
            <a:solidFill>
              <a:srgbClr val="1F2A3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62272" y="1856232"/>
            <a:ext cx="502920" cy="502920"/>
          </a:xfrm>
          <a:prstGeom prst="ellipse">
            <a:avLst/>
          </a:prstGeom>
          <a:solidFill>
            <a:srgbClr val="0F152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5429" y="1969389"/>
            <a:ext cx="276606" cy="2766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20640" y="1819656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Senders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462272" y="2350008"/>
            <a:ext cx="32369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email you weren't expecting, from a sender you don't recognize — or a known contact whose account may be compromised.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8046720" y="1691640"/>
            <a:ext cx="3566160" cy="1508760"/>
          </a:xfrm>
          <a:prstGeom prst="rect">
            <a:avLst/>
          </a:prstGeom>
          <a:solidFill>
            <a:srgbClr val="141C2B"/>
          </a:solidFill>
          <a:ln w="12700">
            <a:solidFill>
              <a:srgbClr val="1F2A3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11312" y="1856232"/>
            <a:ext cx="502920" cy="502920"/>
          </a:xfrm>
          <a:prstGeom prst="ellipse">
            <a:avLst/>
          </a:prstGeom>
          <a:solidFill>
            <a:srgbClr val="0F1522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4469" y="1969389"/>
            <a:ext cx="276606" cy="27660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69680" y="1819656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Links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211312" y="2350008"/>
            <a:ext cx="32369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links (without clicking) to preview the true destination URL before trusting it.</a:t>
            </a:r>
            <a:endParaRPr lang="en-US" sz="980" dirty="0"/>
          </a:p>
        </p:txBody>
      </p:sp>
      <p:sp>
        <p:nvSpPr>
          <p:cNvPr id="19" name="Shape 14"/>
          <p:cNvSpPr/>
          <p:nvPr/>
        </p:nvSpPr>
        <p:spPr>
          <a:xfrm>
            <a:off x="548640" y="3383280"/>
            <a:ext cx="3566160" cy="1508760"/>
          </a:xfrm>
          <a:prstGeom prst="rect">
            <a:avLst/>
          </a:prstGeom>
          <a:solidFill>
            <a:srgbClr val="141C2B"/>
          </a:solidFill>
          <a:ln w="12700">
            <a:solidFill>
              <a:srgbClr val="1F2A3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13232" y="3547872"/>
            <a:ext cx="502920" cy="502920"/>
          </a:xfrm>
          <a:prstGeom prst="ellipse">
            <a:avLst/>
          </a:prstGeom>
          <a:solidFill>
            <a:srgbClr val="0F1522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389" y="3661029"/>
            <a:ext cx="276606" cy="27660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3511296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for Info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13232" y="4041648"/>
            <a:ext cx="32369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organizations rarely ask you to confirm passwords, card numbers, or SSNs by email.</a:t>
            </a:r>
            <a:endParaRPr lang="en-US" sz="980" dirty="0"/>
          </a:p>
        </p:txBody>
      </p:sp>
      <p:sp>
        <p:nvSpPr>
          <p:cNvPr id="24" name="Shape 18"/>
          <p:cNvSpPr/>
          <p:nvPr/>
        </p:nvSpPr>
        <p:spPr>
          <a:xfrm>
            <a:off x="4297680" y="3383280"/>
            <a:ext cx="3566160" cy="1508760"/>
          </a:xfrm>
          <a:prstGeom prst="rect">
            <a:avLst/>
          </a:prstGeom>
          <a:solidFill>
            <a:srgbClr val="141C2B"/>
          </a:solidFill>
          <a:ln w="12700">
            <a:solidFill>
              <a:srgbClr val="1F2A3D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462272" y="3547872"/>
            <a:ext cx="502920" cy="502920"/>
          </a:xfrm>
          <a:prstGeom prst="ellipse">
            <a:avLst/>
          </a:prstGeom>
          <a:solidFill>
            <a:srgbClr val="0F1522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5429" y="3661029"/>
            <a:ext cx="276606" cy="27660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20640" y="3511296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462272" y="4041648"/>
            <a:ext cx="32369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"Dear User" instead of your name — a sign the message wasn't really meant for you personally.</a:t>
            </a:r>
            <a:endParaRPr lang="en-US" sz="980" dirty="0"/>
          </a:p>
        </p:txBody>
      </p:sp>
      <p:sp>
        <p:nvSpPr>
          <p:cNvPr id="29" name="Shape 22"/>
          <p:cNvSpPr/>
          <p:nvPr/>
        </p:nvSpPr>
        <p:spPr>
          <a:xfrm>
            <a:off x="8046720" y="3383280"/>
            <a:ext cx="3566160" cy="1508760"/>
          </a:xfrm>
          <a:prstGeom prst="rect">
            <a:avLst/>
          </a:prstGeom>
          <a:solidFill>
            <a:srgbClr val="141C2B"/>
          </a:solidFill>
          <a:ln w="12700">
            <a:solidFill>
              <a:srgbClr val="1F2A3D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211312" y="3547872"/>
            <a:ext cx="502920" cy="502920"/>
          </a:xfrm>
          <a:prstGeom prst="ellipse">
            <a:avLst/>
          </a:prstGeom>
          <a:solidFill>
            <a:srgbClr val="0F1522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4469" y="3661029"/>
            <a:ext cx="276606" cy="27660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69680" y="3511296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 Formatting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211312" y="4041648"/>
            <a:ext cx="32369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errors, inconsistent logos, or mismatched sender domains — though AI-written phishing now often has perfect grammar.</a:t>
            </a:r>
            <a:endParaRPr lang="en-US" sz="980" dirty="0"/>
          </a:p>
        </p:txBody>
      </p:sp>
      <p:sp>
        <p:nvSpPr>
          <p:cNvPr id="34" name="Text 26"/>
          <p:cNvSpPr/>
          <p:nvPr/>
        </p:nvSpPr>
        <p:spPr>
          <a:xfrm>
            <a:off x="1143000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39E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Hover &amp; Verify: Spot the Signs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852160" cy="4297680"/>
          </a:xfrm>
          <a:prstGeom prst="rect">
            <a:avLst/>
          </a:prstGeom>
          <a:solidFill>
            <a:srgbClr val="0D1117"/>
          </a:solidFill>
          <a:ln w="19050">
            <a:solidFill>
              <a:srgbClr val="1F2A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5852160" cy="502920"/>
          </a:xfrm>
          <a:prstGeom prst="rect">
            <a:avLst/>
          </a:prstGeom>
          <a:solidFill>
            <a:srgbClr val="141C2B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783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● ●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0" y="181051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 — SUSPICIOUS MESSAGE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B98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From:  </a:t>
            </a:r>
            <a:r>
              <a:rPr lang="en-US" sz="1150" dirty="0">
                <a:solidFill>
                  <a:srgbClr val="FF4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IT-Support@secure-updates-portal.com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27889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B98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Subject:  </a:t>
            </a:r>
            <a:r>
              <a:rPr lang="en-US" sz="1150" b="1" dirty="0">
                <a:solidFill>
                  <a:srgbClr val="EAF1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URGENT: Your password expires in 2 hours!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3200400"/>
            <a:ext cx="53949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B98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Dear User,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B98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account will be permanently LOCKED unless you verify your credentials immediately. Click below to keep access to your files.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B98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</a:t>
            </a:r>
            <a:r>
              <a:rPr lang="en-US" sz="1050" dirty="0">
                <a:solidFill>
                  <a:srgbClr val="8B98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/>
              </a:rPr>
              <a:t>Verify My Account Now </a:t>
            </a:r>
            <a:r>
              <a:rPr lang="en-US" sz="1050" dirty="0">
                <a:solidFill>
                  <a:srgbClr val="8B98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B98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Help Desk Team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720840" y="1691640"/>
            <a:ext cx="457200" cy="457200"/>
          </a:xfrm>
          <a:prstGeom prst="ellipse">
            <a:avLst/>
          </a:prstGeom>
          <a:solidFill>
            <a:srgbClr val="FF4D6D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3710" y="1794510"/>
            <a:ext cx="251460" cy="2514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315200" y="1673352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domain isn't the company's real domain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720840" y="2532888"/>
            <a:ext cx="457200" cy="457200"/>
          </a:xfrm>
          <a:prstGeom prst="ellipse">
            <a:avLst/>
          </a:prstGeom>
          <a:solidFill>
            <a:srgbClr val="FFB454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3710" y="2635758"/>
            <a:ext cx="251460" cy="2514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315200" y="251460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"Dear User" — no personal greeting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720840" y="3374136"/>
            <a:ext cx="457200" cy="457200"/>
          </a:xfrm>
          <a:prstGeom prst="ellipse">
            <a:avLst/>
          </a:prstGeom>
          <a:solidFill>
            <a:srgbClr val="FF4D6D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3710" y="3477006"/>
            <a:ext cx="251460" cy="2514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315200" y="3355848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Manufactured urgency ("2 hours", "LOCKED")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720840" y="4215384"/>
            <a:ext cx="457200" cy="457200"/>
          </a:xfrm>
          <a:prstGeom prst="ellipse">
            <a:avLst/>
          </a:prstGeom>
          <a:solidFill>
            <a:srgbClr val="FFB454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3710" y="4318254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4197096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sign-off, no verified contact info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720840" y="5056632"/>
            <a:ext cx="457200" cy="457200"/>
          </a:xfrm>
          <a:prstGeom prst="ellipse">
            <a:avLst/>
          </a:prstGeom>
          <a:solidFill>
            <a:srgbClr val="FF4D6D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3710" y="5159502"/>
            <a:ext cx="251460" cy="25146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315200" y="5038344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link — hovering would reveal a mismatched URL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1143000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Recognizing Fake Websites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594360"/>
          </a:xfrm>
          <a:prstGeom prst="rect">
            <a:avLst/>
          </a:prstGeom>
          <a:solidFill>
            <a:srgbClr val="141C2B"/>
          </a:solidFill>
          <a:ln w="12700">
            <a:solidFill>
              <a:srgbClr val="1F2A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10512"/>
            <a:ext cx="8686800" cy="365760"/>
          </a:xfrm>
          <a:prstGeom prst="rect">
            <a:avLst/>
          </a:prstGeom>
          <a:solidFill>
            <a:srgbClr val="0D1117"/>
          </a:solidFill>
          <a:ln w="9525">
            <a:solidFill>
              <a:srgbClr val="1F2A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847088"/>
            <a:ext cx="292608" cy="292608"/>
          </a:xfrm>
          <a:prstGeom prst="ellipse">
            <a:avLst/>
          </a:prstGeom>
          <a:solidFill>
            <a:srgbClr val="0D1117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310" y="1861718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81051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4D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http://paypa1-secure-login.verify-account.net/signin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2651760" cy="3246120"/>
          </a:xfrm>
          <a:prstGeom prst="rect">
            <a:avLst/>
          </a:prstGeom>
          <a:solidFill>
            <a:srgbClr val="141C2B"/>
          </a:solidFill>
          <a:ln w="12700">
            <a:solidFill>
              <a:srgbClr val="1F2A3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577340" y="2862072"/>
            <a:ext cx="594360" cy="594360"/>
          </a:xfrm>
          <a:prstGeom prst="ellipse">
            <a:avLst/>
          </a:prstGeom>
          <a:solidFill>
            <a:srgbClr val="0F152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1071" y="2995803"/>
            <a:ext cx="326898" cy="32689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5800" y="36118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URL Carefully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731520" y="420624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Misspelled domains ("paypa1"), extra words, or unusual subdomains are common tricks — read the full address, not just the brand name in it.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383280" y="2606040"/>
            <a:ext cx="2651760" cy="3246120"/>
          </a:xfrm>
          <a:prstGeom prst="rect">
            <a:avLst/>
          </a:prstGeom>
          <a:solidFill>
            <a:srgbClr val="141C2B"/>
          </a:solidFill>
          <a:ln w="12700">
            <a:solidFill>
              <a:srgbClr val="1F2A3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411980" y="2862072"/>
            <a:ext cx="594360" cy="594360"/>
          </a:xfrm>
          <a:prstGeom prst="ellipse">
            <a:avLst/>
          </a:prstGeom>
          <a:solidFill>
            <a:srgbClr val="0F1522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5711" y="2995803"/>
            <a:ext cx="326898" cy="32689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520440" y="36118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HTTPS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3566160" y="420624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padlock icon and https:// indicate an encrypted connection — but note this alone doesn't guarantee legitimacy.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217920" y="2606040"/>
            <a:ext cx="2651760" cy="3246120"/>
          </a:xfrm>
          <a:prstGeom prst="rect">
            <a:avLst/>
          </a:prstGeom>
          <a:solidFill>
            <a:srgbClr val="141C2B"/>
          </a:solidFill>
          <a:ln w="12700">
            <a:solidFill>
              <a:srgbClr val="1F2A3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246620" y="2862072"/>
            <a:ext cx="594360" cy="594360"/>
          </a:xfrm>
          <a:prstGeom prst="ellipse">
            <a:avLst/>
          </a:prstGeom>
          <a:solidFill>
            <a:srgbClr val="0F1522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0351" y="2995803"/>
            <a:ext cx="326898" cy="32689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55080" y="36118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Legitimacy Independently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6400800" y="420624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the company's address yourself or search for it rather than clicking a link, then compare it to what you were sent.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9052560" y="2606040"/>
            <a:ext cx="2651760" cy="3246120"/>
          </a:xfrm>
          <a:prstGeom prst="rect">
            <a:avLst/>
          </a:prstGeom>
          <a:solidFill>
            <a:srgbClr val="141C2B"/>
          </a:solidFill>
          <a:ln w="12700">
            <a:solidFill>
              <a:srgbClr val="1F2A3D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0081260" y="2862072"/>
            <a:ext cx="594360" cy="594360"/>
          </a:xfrm>
          <a:prstGeom prst="ellipse">
            <a:avLst/>
          </a:prstGeom>
          <a:solidFill>
            <a:srgbClr val="0F1522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14991" y="2995803"/>
            <a:ext cx="326898" cy="32689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189720" y="36118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Cautious With Pop-Ups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9235440" y="420624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pop-up forms asking for login details or payment info are a major red flag on any site.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1143000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39E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LAYER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Engineering Tactics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isn't primarily a technology problem — it's a psychology problem. Attackers exploit the same human instincts every time.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97480" cy="2011680"/>
          </a:xfrm>
          <a:prstGeom prst="rect">
            <a:avLst/>
          </a:prstGeom>
          <a:solidFill>
            <a:srgbClr val="141C2B"/>
          </a:solidFill>
          <a:ln w="12700">
            <a:solidFill>
              <a:srgbClr val="1F2A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993392"/>
            <a:ext cx="502920" cy="502920"/>
          </a:xfrm>
          <a:prstGeom prst="ellipse">
            <a:avLst/>
          </a:prstGeom>
          <a:solidFill>
            <a:srgbClr val="0F1522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389" y="2106549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2606040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Impersonation &amp; Authority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13232" y="3063240"/>
            <a:ext cx="23682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Posing as an executive, IT support, or a vendor to borrow their credibility and discourage questions.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3429000" y="1828800"/>
            <a:ext cx="2697480" cy="2011680"/>
          </a:xfrm>
          <a:prstGeom prst="rect">
            <a:avLst/>
          </a:prstGeom>
          <a:solidFill>
            <a:srgbClr val="141C2B"/>
          </a:solidFill>
          <a:ln w="12700">
            <a:solidFill>
              <a:srgbClr val="1F2A3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93592" y="1993392"/>
            <a:ext cx="502920" cy="502920"/>
          </a:xfrm>
          <a:prstGeom prst="ellipse">
            <a:avLst/>
          </a:prstGeom>
          <a:solidFill>
            <a:srgbClr val="0F1522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6749" y="2106549"/>
            <a:ext cx="276606" cy="2766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93592" y="2606040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Exploiting Trust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593592" y="3063240"/>
            <a:ext cx="23682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Leveraging relationships — a compromised colleague's account, a familiar-looking signature block.</a:t>
            </a:r>
            <a:endParaRPr lang="en-US" sz="980" dirty="0"/>
          </a:p>
        </p:txBody>
      </p:sp>
      <p:sp>
        <p:nvSpPr>
          <p:cNvPr id="15" name="Shape 11"/>
          <p:cNvSpPr/>
          <p:nvPr/>
        </p:nvSpPr>
        <p:spPr>
          <a:xfrm>
            <a:off x="6309360" y="1828800"/>
            <a:ext cx="2697480" cy="2011680"/>
          </a:xfrm>
          <a:prstGeom prst="rect">
            <a:avLst/>
          </a:prstGeom>
          <a:solidFill>
            <a:srgbClr val="141C2B"/>
          </a:solidFill>
          <a:ln w="12700">
            <a:solidFill>
              <a:srgbClr val="1F2A3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73952" y="1993392"/>
            <a:ext cx="502920" cy="502920"/>
          </a:xfrm>
          <a:prstGeom prst="ellipse">
            <a:avLst/>
          </a:prstGeom>
          <a:solidFill>
            <a:srgbClr val="0F1522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7109" y="2106549"/>
            <a:ext cx="276606" cy="27660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2606040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Manipulation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473952" y="3063240"/>
            <a:ext cx="23682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Fear, curiosity, greed, or urgency all reduce careful, critical thinking in the moment.</a:t>
            </a:r>
            <a:endParaRPr lang="en-US" sz="980" dirty="0"/>
          </a:p>
        </p:txBody>
      </p:sp>
      <p:sp>
        <p:nvSpPr>
          <p:cNvPr id="20" name="Shape 15"/>
          <p:cNvSpPr/>
          <p:nvPr/>
        </p:nvSpPr>
        <p:spPr>
          <a:xfrm>
            <a:off x="9189720" y="1828800"/>
            <a:ext cx="2697480" cy="2011680"/>
          </a:xfrm>
          <a:prstGeom prst="rect">
            <a:avLst/>
          </a:prstGeom>
          <a:solidFill>
            <a:srgbClr val="141C2B"/>
          </a:solidFill>
          <a:ln w="12700">
            <a:solidFill>
              <a:srgbClr val="1F2A3D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354312" y="1993392"/>
            <a:ext cx="502920" cy="502920"/>
          </a:xfrm>
          <a:prstGeom prst="ellipse">
            <a:avLst/>
          </a:prstGeom>
          <a:solidFill>
            <a:srgbClr val="0F1522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7469" y="2106549"/>
            <a:ext cx="276606" cy="27660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54312" y="2606040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Mining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9354312" y="3063240"/>
            <a:ext cx="23682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profile details — job, location, interests, relationship status — used to make bait messages feel personal.</a:t>
            </a:r>
            <a:endParaRPr lang="en-US" sz="980" dirty="0"/>
          </a:p>
        </p:txBody>
      </p:sp>
      <p:sp>
        <p:nvSpPr>
          <p:cNvPr id="25" name="Text 19"/>
          <p:cNvSpPr/>
          <p:nvPr/>
        </p:nvSpPr>
        <p:spPr>
          <a:xfrm>
            <a:off x="548640" y="4069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Click-Through Success Rate by Email Theme</a:t>
            </a:r>
            <a:endParaRPr lang="en-US" sz="1300" dirty="0"/>
          </a:p>
        </p:txBody>
      </p:sp>
      <p:graphicFrame>
        <p:nvGraphicFramePr>
          <p:cNvPr id="26" name="Chart 0"/>
          <p:cNvGraphicFramePr/>
          <p:nvPr/>
        </p:nvGraphicFramePr>
        <p:xfrm>
          <a:off x="548640" y="4434840"/>
          <a:ext cx="658368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7" name="Text 20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Enterprise Phishing Resiliency &amp; Defense Report</a:t>
            </a:r>
            <a:endParaRPr lang="en-US" sz="850" dirty="0"/>
          </a:p>
        </p:txBody>
      </p:sp>
      <p:sp>
        <p:nvSpPr>
          <p:cNvPr id="28" name="Shape 21"/>
          <p:cNvSpPr/>
          <p:nvPr/>
        </p:nvSpPr>
        <p:spPr>
          <a:xfrm>
            <a:off x="7406640" y="4434840"/>
            <a:ext cx="4233672" cy="1920240"/>
          </a:xfrm>
          <a:prstGeom prst="rect">
            <a:avLst/>
          </a:prstGeom>
          <a:solidFill>
            <a:srgbClr val="141C2B"/>
          </a:solidFill>
          <a:ln w="12700">
            <a:solidFill>
              <a:srgbClr val="1F2A3D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7607808" y="4617720"/>
            <a:ext cx="502920" cy="502920"/>
          </a:xfrm>
          <a:prstGeom prst="ellipse">
            <a:avLst/>
          </a:prstGeom>
          <a:solidFill>
            <a:srgbClr val="0F1522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0965" y="4730877"/>
            <a:ext cx="276606" cy="27660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229600" y="4553712"/>
            <a:ext cx="32461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Casual, low-stakes bait (eCards, office raffles) can outperform scary bait — because it lowers the recipient's guard entirely.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1143000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Study: Vendor Impersonation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4160520"/>
          </a:xfrm>
          <a:prstGeom prst="rect">
            <a:avLst/>
          </a:prstGeom>
          <a:solidFill>
            <a:srgbClr val="141C2B"/>
          </a:solidFill>
          <a:ln w="12700">
            <a:solidFill>
              <a:srgbClr val="1F2A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01952"/>
            <a:ext cx="594360" cy="594360"/>
          </a:xfrm>
          <a:prstGeom prst="ellipse">
            <a:avLst/>
          </a:prstGeom>
          <a:solidFill>
            <a:srgbClr val="FF4D6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971" y="2035683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659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2651760"/>
            <a:ext cx="493776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mid-size enterprise fell victim to a spear-phishing attack when a cybercriminal posed as a trusted vendor. The finance department was targeted directly, with a spoofed invoice altering payment details.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Unsuspecting staff processed the fraudulent invoice, sending funds to the attacker's account, before the discrepancy was discovered when the legitimate vendor followed up on overdue payment.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99632" y="1691640"/>
            <a:ext cx="5440680" cy="4160520"/>
          </a:xfrm>
          <a:prstGeom prst="rect">
            <a:avLst/>
          </a:prstGeom>
          <a:solidFill>
            <a:srgbClr val="141C2B"/>
          </a:solidFill>
          <a:ln w="12700">
            <a:solidFill>
              <a:srgbClr val="1F2A3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28232" y="1901952"/>
            <a:ext cx="594360" cy="594360"/>
          </a:xfrm>
          <a:prstGeom prst="ellipse">
            <a:avLst/>
          </a:prstGeom>
          <a:solidFill>
            <a:srgbClr val="39E99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1963" y="2035683"/>
            <a:ext cx="326898" cy="32689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59752" y="19659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473952" y="2697480"/>
            <a:ext cx="49377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vendor payment protocols with independent verification steps.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robust approval workflows for any changes to payment/banking details.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role-specific phishing training for finance and accounts-payable teams.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recognition drills so staff learn to spot invoice-fraud patterns early.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all payment-detail changes through a verified, out-of-band contact channel.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143000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39E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A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for Avoiding Phishing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1508760"/>
          </a:xfrm>
          <a:prstGeom prst="rect">
            <a:avLst/>
          </a:prstGeom>
          <a:solidFill>
            <a:srgbClr val="141C2B"/>
          </a:solidFill>
          <a:ln w="12700">
            <a:solidFill>
              <a:srgbClr val="1F2A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856232"/>
            <a:ext cx="502920" cy="502920"/>
          </a:xfrm>
          <a:prstGeom prst="ellipse">
            <a:avLst/>
          </a:prstGeom>
          <a:solidFill>
            <a:srgbClr val="0F152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389" y="1969389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819656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Independently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13232" y="2350008"/>
            <a:ext cx="32369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senders through a known, separate channel — never the phone number or link in the message itself.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4297680" y="1691640"/>
            <a:ext cx="3566160" cy="1508760"/>
          </a:xfrm>
          <a:prstGeom prst="rect">
            <a:avLst/>
          </a:prstGeom>
          <a:solidFill>
            <a:srgbClr val="141C2B"/>
          </a:solidFill>
          <a:ln w="12700">
            <a:solidFill>
              <a:srgbClr val="1F2A3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62272" y="1856232"/>
            <a:ext cx="502920" cy="502920"/>
          </a:xfrm>
          <a:prstGeom prst="ellipse">
            <a:avLst/>
          </a:prstGeom>
          <a:solidFill>
            <a:srgbClr val="0F152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5429" y="1969389"/>
            <a:ext cx="276606" cy="2766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20640" y="1819656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Reply to Spam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462272" y="2350008"/>
            <a:ext cx="32369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Responding — even to unsubscribe — confirms your address is active and invites more targeting.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8046720" y="1691640"/>
            <a:ext cx="3566160" cy="1508760"/>
          </a:xfrm>
          <a:prstGeom prst="rect">
            <a:avLst/>
          </a:prstGeom>
          <a:solidFill>
            <a:srgbClr val="141C2B"/>
          </a:solidFill>
          <a:ln w="12700">
            <a:solidFill>
              <a:srgbClr val="1F2A3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11312" y="1856232"/>
            <a:ext cx="502920" cy="502920"/>
          </a:xfrm>
          <a:prstGeom prst="ellipse">
            <a:avLst/>
          </a:prstGeom>
          <a:solidFill>
            <a:srgbClr val="0F1522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4469" y="1969389"/>
            <a:ext cx="276606" cy="27660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69680" y="1819656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Personal Info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211312" y="2350008"/>
            <a:ext cx="32369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share credentials, card numbers, or codes in response to an unsolicited request.</a:t>
            </a:r>
            <a:endParaRPr lang="en-US" sz="980" dirty="0"/>
          </a:p>
        </p:txBody>
      </p:sp>
      <p:sp>
        <p:nvSpPr>
          <p:cNvPr id="19" name="Shape 14"/>
          <p:cNvSpPr/>
          <p:nvPr/>
        </p:nvSpPr>
        <p:spPr>
          <a:xfrm>
            <a:off x="548640" y="3383280"/>
            <a:ext cx="3566160" cy="1508760"/>
          </a:xfrm>
          <a:prstGeom prst="rect">
            <a:avLst/>
          </a:prstGeom>
          <a:solidFill>
            <a:srgbClr val="141C2B"/>
          </a:solidFill>
          <a:ln w="12700">
            <a:solidFill>
              <a:srgbClr val="1F2A3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13232" y="3547872"/>
            <a:ext cx="502920" cy="502920"/>
          </a:xfrm>
          <a:prstGeom prst="ellipse">
            <a:avLst/>
          </a:prstGeom>
          <a:solidFill>
            <a:srgbClr val="0F1522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389" y="3661029"/>
            <a:ext cx="276606" cy="27660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3511296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Software Updated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13232" y="4041648"/>
            <a:ext cx="32369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Patched systems and active security software close off many of the technical footholds attackers rely on.</a:t>
            </a:r>
            <a:endParaRPr lang="en-US" sz="980" dirty="0"/>
          </a:p>
        </p:txBody>
      </p:sp>
      <p:sp>
        <p:nvSpPr>
          <p:cNvPr id="24" name="Shape 18"/>
          <p:cNvSpPr/>
          <p:nvPr/>
        </p:nvSpPr>
        <p:spPr>
          <a:xfrm>
            <a:off x="4297680" y="3383280"/>
            <a:ext cx="3566160" cy="1508760"/>
          </a:xfrm>
          <a:prstGeom prst="rect">
            <a:avLst/>
          </a:prstGeom>
          <a:solidFill>
            <a:srgbClr val="141C2B"/>
          </a:solidFill>
          <a:ln w="12700">
            <a:solidFill>
              <a:srgbClr val="1F2A3D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462272" y="3547872"/>
            <a:ext cx="502920" cy="502920"/>
          </a:xfrm>
          <a:prstGeom prst="ellipse">
            <a:avLst/>
          </a:prstGeom>
          <a:solidFill>
            <a:srgbClr val="0F1522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5429" y="3661029"/>
            <a:ext cx="276606" cy="27660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20640" y="3511296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Whole Team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462272" y="4041648"/>
            <a:ext cx="32369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Regular, ongoing training measurably reduces successful attacks — a single annual session isn't enough.</a:t>
            </a:r>
            <a:endParaRPr lang="en-US" sz="980" dirty="0"/>
          </a:p>
        </p:txBody>
      </p:sp>
      <p:sp>
        <p:nvSpPr>
          <p:cNvPr id="29" name="Shape 22"/>
          <p:cNvSpPr/>
          <p:nvPr/>
        </p:nvSpPr>
        <p:spPr>
          <a:xfrm>
            <a:off x="8046720" y="3383280"/>
            <a:ext cx="3566160" cy="1508760"/>
          </a:xfrm>
          <a:prstGeom prst="rect">
            <a:avLst/>
          </a:prstGeom>
          <a:solidFill>
            <a:srgbClr val="141C2B"/>
          </a:solidFill>
          <a:ln w="12700">
            <a:solidFill>
              <a:srgbClr val="1F2A3D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211312" y="3547872"/>
            <a:ext cx="502920" cy="502920"/>
          </a:xfrm>
          <a:prstGeom prst="ellipse">
            <a:avLst/>
          </a:prstGeom>
          <a:solidFill>
            <a:srgbClr val="0F1522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4469" y="3661029"/>
            <a:ext cx="276606" cy="27660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69680" y="3511296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Messages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211312" y="4041648"/>
            <a:ext cx="32369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anything questionable to IT/security immediately so others can be warned and blocked.</a:t>
            </a:r>
            <a:endParaRPr lang="en-US" sz="980" dirty="0"/>
          </a:p>
        </p:txBody>
      </p:sp>
      <p:sp>
        <p:nvSpPr>
          <p:cNvPr id="34" name="Text 26"/>
          <p:cNvSpPr/>
          <p:nvPr/>
        </p:nvSpPr>
        <p:spPr>
          <a:xfrm>
            <a:off x="1143000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Time — Spot the Phish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4343400"/>
          </a:xfrm>
          <a:prstGeom prst="rect">
            <a:avLst/>
          </a:prstGeom>
          <a:solidFill>
            <a:srgbClr val="141C2B"/>
          </a:solidFill>
          <a:ln w="12700">
            <a:solidFill>
              <a:srgbClr val="1F2A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10512"/>
            <a:ext cx="502920" cy="502920"/>
          </a:xfrm>
          <a:prstGeom prst="ellipse">
            <a:avLst/>
          </a:prstGeom>
          <a:solidFill>
            <a:srgbClr val="0F152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1911096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470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37744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an email from "Amazon" saying your order was declined and asking you to "confirm payment" via a link. What's your first move?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3520440"/>
            <a:ext cx="4937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5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Click the link right away to fix the payment issue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Reply to the email asking if it's legitimate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Go directly to amazon.com yourself to check your orders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Forward it to a friend for a second opinion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99632" y="1600200"/>
            <a:ext cx="5440680" cy="4343400"/>
          </a:xfrm>
          <a:prstGeom prst="rect">
            <a:avLst/>
          </a:prstGeom>
          <a:solidFill>
            <a:srgbClr val="141C2B"/>
          </a:solidFill>
          <a:ln w="12700">
            <a:solidFill>
              <a:srgbClr val="1F2A3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28232" y="1810512"/>
            <a:ext cx="502920" cy="502920"/>
          </a:xfrm>
          <a:prstGeom prst="ellipse">
            <a:avLst/>
          </a:prstGeom>
          <a:solidFill>
            <a:srgbClr val="0F1522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16" y="1911096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68312" y="18470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473952" y="237744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CEO texts your personal phone asking you to urgently buy gift cards for a client and send the codes. What is this most likely?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473952" y="3520440"/>
            <a:ext cx="4937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5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normal, if unusual, request from leadership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whaling / impersonation attempt exploiting authority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Something to quietly handle to avoid bothering the CEO</a:t>
            </a:r>
            <a:endParaRPr lang="en-US" sz="12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Spam that can be safely ignored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1143000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39E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 &amp; Explanations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4343400"/>
          </a:xfrm>
          <a:prstGeom prst="rect">
            <a:avLst/>
          </a:prstGeom>
          <a:solidFill>
            <a:srgbClr val="141C2B"/>
          </a:solidFill>
          <a:ln w="12700">
            <a:solidFill>
              <a:srgbClr val="1F2A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10512"/>
            <a:ext cx="502920" cy="502920"/>
          </a:xfrm>
          <a:prstGeom prst="ellipse">
            <a:avLst/>
          </a:prstGeom>
          <a:solidFill>
            <a:srgbClr val="39E99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1911096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4708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9E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Answer: C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514600"/>
            <a:ext cx="49377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directly to amazon.com yourself, typed in manually or via a bookmark, and check your order history there.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click a link in an unsolicited email — even replying can confirm your address is active. Verifying independently, through a channel you trust, is the safest habit to build.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99632" y="1600200"/>
            <a:ext cx="5440680" cy="4343400"/>
          </a:xfrm>
          <a:prstGeom prst="rect">
            <a:avLst/>
          </a:prstGeom>
          <a:solidFill>
            <a:srgbClr val="141C2B"/>
          </a:solidFill>
          <a:ln w="12700">
            <a:solidFill>
              <a:srgbClr val="1F2A3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28232" y="1810512"/>
            <a:ext cx="502920" cy="502920"/>
          </a:xfrm>
          <a:prstGeom prst="ellipse">
            <a:avLst/>
          </a:prstGeom>
          <a:solidFill>
            <a:srgbClr val="39E99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16" y="1911096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68312" y="184708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9E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Answer: B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73952" y="2514600"/>
            <a:ext cx="49377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classic whaling / executive-impersonation scam. Attackers spoof a leader's identity and use authority plus urgency to bypass normal judgment — gift cards are untraceable, which is why they're a favorite payout method.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verify unusual financial requests through a separate, known contact method before acting.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1430000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457200" cy="0"/>
          </a:xfrm>
          <a:prstGeom prst="line">
            <a:avLst/>
          </a:prstGeom>
          <a:noFill/>
          <a:ln w="19050">
            <a:solidFill>
              <a:srgbClr val="1FA97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502920"/>
            <a:ext cx="0" cy="457200"/>
          </a:xfrm>
          <a:prstGeom prst="line">
            <a:avLst/>
          </a:prstGeom>
          <a:noFill/>
          <a:ln w="19050">
            <a:solidFill>
              <a:srgbClr val="1FA97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31575" y="6355080"/>
            <a:ext cx="457200" cy="0"/>
          </a:xfrm>
          <a:prstGeom prst="line">
            <a:avLst/>
          </a:prstGeom>
          <a:noFill/>
          <a:ln w="19050">
            <a:solidFill>
              <a:srgbClr val="1FA97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88775" y="5897880"/>
            <a:ext cx="0" cy="457200"/>
          </a:xfrm>
          <a:prstGeom prst="line">
            <a:avLst/>
          </a:prstGeom>
          <a:noFill/>
          <a:ln w="19050">
            <a:solidFill>
              <a:srgbClr val="1FA9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39E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WORDS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13716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A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Alert. </a:t>
            </a:r>
            <a:r>
              <a:rPr lang="en-US" sz="3800" b="1" dirty="0">
                <a:solidFill>
                  <a:srgbClr val="39E9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Skeptical.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7498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will keep evolving — but every attack still depends on one thing: a person clicking, replying, or trusting too quickly. Learn from mistakes rather than repeat them, and build the pause-and-verify habit into everyday work.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3931920"/>
            <a:ext cx="502920" cy="502920"/>
          </a:xfrm>
          <a:prstGeom prst="ellipse">
            <a:avLst/>
          </a:prstGeom>
          <a:solidFill>
            <a:srgbClr val="141C2B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117" y="4045077"/>
            <a:ext cx="276606" cy="27660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08760" y="3913632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before you click  —  </a:t>
            </a:r>
            <a:r>
              <a:rPr lang="en-US" sz="125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is the biggest tell — slow down.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22960" y="4709160"/>
            <a:ext cx="502920" cy="502920"/>
          </a:xfrm>
          <a:prstGeom prst="ellipse">
            <a:avLst/>
          </a:prstGeom>
          <a:solidFill>
            <a:srgbClr val="141C2B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117" y="4822317"/>
            <a:ext cx="276606" cy="27660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08760" y="4690872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Report, don't ignore  —  </a:t>
            </a:r>
            <a:r>
              <a:rPr lang="en-US" sz="125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suspicious messages to IT/security.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22960" y="5486400"/>
            <a:ext cx="502920" cy="502920"/>
          </a:xfrm>
          <a:prstGeom prst="ellipse">
            <a:avLst/>
          </a:prstGeom>
          <a:solidFill>
            <a:srgbClr val="141C2B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117" y="5599557"/>
            <a:ext cx="276606" cy="27660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5468112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learning  —  </a:t>
            </a:r>
            <a:r>
              <a:rPr lang="en-US" sz="125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evolve — so should your training.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8732520" y="1371600"/>
            <a:ext cx="2926080" cy="4480560"/>
          </a:xfrm>
          <a:prstGeom prst="rect">
            <a:avLst/>
          </a:prstGeom>
          <a:solidFill>
            <a:srgbClr val="141C2B"/>
          </a:solidFill>
          <a:ln w="12700">
            <a:solidFill>
              <a:srgbClr val="1F2A3D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006840" y="1600200"/>
            <a:ext cx="822960" cy="822960"/>
          </a:xfrm>
          <a:prstGeom prst="ellipse">
            <a:avLst/>
          </a:prstGeom>
          <a:solidFill>
            <a:srgbClr val="0F1522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2006" y="1785366"/>
            <a:ext cx="452628" cy="45262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006840" y="2560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9006840" y="297180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CISA — Teach Employees to Avoid Phishing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— Attack Simulation Training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Cymulate — Phishing Awareness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— Security Awareness Training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eSentire — Phishing Fundamentals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457200" cy="0"/>
          </a:xfrm>
          <a:prstGeom prst="line">
            <a:avLst/>
          </a:prstGeom>
          <a:noFill/>
          <a:ln w="19050">
            <a:solidFill>
              <a:srgbClr val="1FA97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502920"/>
            <a:ext cx="0" cy="457200"/>
          </a:xfrm>
          <a:prstGeom prst="line">
            <a:avLst/>
          </a:prstGeom>
          <a:noFill/>
          <a:ln w="19050">
            <a:solidFill>
              <a:srgbClr val="1FA97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31575" y="502920"/>
            <a:ext cx="457200" cy="0"/>
          </a:xfrm>
          <a:prstGeom prst="line">
            <a:avLst/>
          </a:prstGeom>
          <a:noFill/>
          <a:ln w="19050">
            <a:solidFill>
              <a:srgbClr val="1FA97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88775" y="502920"/>
            <a:ext cx="0" cy="457200"/>
          </a:xfrm>
          <a:prstGeom prst="line">
            <a:avLst/>
          </a:prstGeom>
          <a:noFill/>
          <a:ln w="19050">
            <a:solidFill>
              <a:srgbClr val="1FA97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5897880"/>
            <a:ext cx="0" cy="457200"/>
          </a:xfrm>
          <a:prstGeom prst="line">
            <a:avLst/>
          </a:prstGeom>
          <a:noFill/>
          <a:ln w="19050">
            <a:solidFill>
              <a:srgbClr val="1FA97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6355080"/>
            <a:ext cx="457200" cy="0"/>
          </a:xfrm>
          <a:prstGeom prst="line">
            <a:avLst/>
          </a:prstGeom>
          <a:noFill/>
          <a:ln w="19050">
            <a:solidFill>
              <a:srgbClr val="1FA9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88775" y="5897880"/>
            <a:ext cx="0" cy="457200"/>
          </a:xfrm>
          <a:prstGeom prst="line">
            <a:avLst/>
          </a:prstGeom>
          <a:noFill/>
          <a:ln w="19050">
            <a:solidFill>
              <a:srgbClr val="1FA97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31575" y="6355080"/>
            <a:ext cx="457200" cy="0"/>
          </a:xfrm>
          <a:prstGeom prst="line">
            <a:avLst/>
          </a:prstGeom>
          <a:noFill/>
          <a:ln w="19050">
            <a:solidFill>
              <a:srgbClr val="1FA97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01488" y="1325880"/>
            <a:ext cx="1188720" cy="1188720"/>
          </a:xfrm>
          <a:prstGeom prst="ellipse">
            <a:avLst/>
          </a:prstGeom>
          <a:solidFill>
            <a:srgbClr val="141C2B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8950" y="1593342"/>
            <a:ext cx="653796" cy="65379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0" y="278892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A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</a:t>
            </a:r>
            <a:r>
              <a:rPr lang="en-US" sz="4400" b="1" dirty="0">
                <a:solidFill>
                  <a:srgbClr val="39E9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</a:t>
            </a:r>
            <a:endParaRPr lang="en-US" sz="4400" dirty="0"/>
          </a:p>
        </p:txBody>
      </p:sp>
      <p:sp>
        <p:nvSpPr>
          <p:cNvPr id="13" name="Text 10"/>
          <p:cNvSpPr/>
          <p:nvPr/>
        </p:nvSpPr>
        <p:spPr>
          <a:xfrm>
            <a:off x="2438248" y="3794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sharp out there — the best firewall is a healthy dose of skepticism.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3078328" y="4617720"/>
            <a:ext cx="6035040" cy="868680"/>
          </a:xfrm>
          <a:prstGeom prst="rect">
            <a:avLst/>
          </a:prstGeom>
          <a:solidFill>
            <a:srgbClr val="141C2B"/>
          </a:solidFill>
          <a:ln w="12700">
            <a:solidFill>
              <a:srgbClr val="1F2A3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79496" y="4791456"/>
            <a:ext cx="530352" cy="530352"/>
          </a:xfrm>
          <a:prstGeom prst="ellipse">
            <a:avLst/>
          </a:prstGeom>
          <a:solidFill>
            <a:srgbClr val="0F1522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8825" y="4910785"/>
            <a:ext cx="291694" cy="29169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992728" y="4690872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          Questions or concerns? </a:t>
            </a:r>
            <a:br>
              <a:rPr lang="en-US" sz="1150" b="1" dirty="0">
                <a:solidFill>
                  <a:srgbClr val="EA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50" dirty="0">
                <a:solidFill>
                  <a:srgbClr val="8B9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your security team or report suspicious messages any time.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0" y="63093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5D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Phishing Awareness Training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1842</Words>
  <Application>Microsoft Office PowerPoint</Application>
  <PresentationFormat>Widescreen</PresentationFormat>
  <Paragraphs>230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subject>PptxGenJS Presentation</dc:subject>
  <dc:creator>Cyber Awareness Program</dc:creator>
  <cp:lastModifiedBy>Yusra Farooq</cp:lastModifiedBy>
  <cp:revision>3</cp:revision>
  <dcterms:created xsi:type="dcterms:W3CDTF">2026-07-05T10:21:16Z</dcterms:created>
  <dcterms:modified xsi:type="dcterms:W3CDTF">2026-07-05T10:31:42Z</dcterms:modified>
</cp:coreProperties>
</file>